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E1"/>
    <a:srgbClr val="4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55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1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3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3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6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6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1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7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1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hr.org.tw/civicrm/contribute/transact?reset=1&amp;id=16" TargetMode="Externa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8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8573" y="716008"/>
            <a:ext cx="4228328" cy="34229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4800FF"/>
                </a:solidFill>
                <a:latin typeface="Walbaum Display"/>
              </a:rPr>
              <a:t>ZAYATHON-2026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D419A97-AC58-038F-522F-5A9371E50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39" y="294232"/>
            <a:ext cx="5890118" cy="4121646"/>
          </a:xfrm>
        </p:spPr>
        <p:txBody>
          <a:bodyPr vert="horz" lIns="68580" tIns="34290" rIns="68580" bIns="34290" rtlCol="0" anchor="t">
            <a:noAutofit/>
          </a:bodyPr>
          <a:lstStyle/>
          <a:p>
            <a:r>
              <a:rPr lang="en-AU" sz="2000" b="1" dirty="0">
                <a:latin typeface="Bahnschrift SemiLight"/>
              </a:rPr>
              <a:t>PROBLEM </a:t>
            </a:r>
            <a:r>
              <a:rPr lang="en-US" sz="2000" b="1" dirty="0">
                <a:latin typeface="Bahnschrift SemiLight"/>
              </a:rPr>
              <a:t> STATEMENT  TITLE </a:t>
            </a:r>
            <a:r>
              <a:rPr lang="en-US" sz="2000" dirty="0">
                <a:latin typeface="Bahnschrift SemiLight"/>
              </a:rPr>
              <a:t>- </a:t>
            </a:r>
            <a:r>
              <a:rPr lang="en-AU" sz="2000" dirty="0"/>
              <a:t> </a:t>
            </a:r>
          </a:p>
          <a:p>
            <a:pPr marL="0" indent="0">
              <a:buNone/>
            </a:pPr>
            <a:r>
              <a:rPr lang="en-AU" sz="2000" dirty="0">
                <a:latin typeface="Bahnschrift SemiLight"/>
              </a:rPr>
              <a:t> </a:t>
            </a:r>
            <a:r>
              <a:rPr lang="en-US" sz="2000" dirty="0">
                <a:latin typeface="Bahnschrift SemiLight"/>
              </a:rPr>
              <a:t>             </a:t>
            </a:r>
            <a:r>
              <a:rPr lang="en-US" sz="2000" dirty="0">
                <a:latin typeface="Neue Haas Grotesk Text Pro"/>
              </a:rPr>
              <a:t>" </a:t>
            </a:r>
            <a:r>
              <a:rPr lang="en-US" sz="2000" dirty="0" err="1">
                <a:latin typeface="Neue Haas Grotesk Text Pro"/>
              </a:rPr>
              <a:t>CrowdSafe</a:t>
            </a:r>
            <a:r>
              <a:rPr lang="en-US" sz="2000" dirty="0">
                <a:latin typeface="Neue Haas Grotesk Text Pro"/>
              </a:rPr>
              <a:t>-Real Time Public Safety Alert System“</a:t>
            </a:r>
            <a:endParaRPr lang="en-AU" sz="2000" dirty="0">
              <a:latin typeface="Neue Haas Grotesk Text Pro"/>
            </a:endParaRPr>
          </a:p>
          <a:p>
            <a:r>
              <a:rPr lang="en-AU" sz="2000" b="1" dirty="0">
                <a:latin typeface="Neue Haas Grotesk Text Pro"/>
              </a:rPr>
              <a:t>PROBLEM STATEMENT</a:t>
            </a:r>
            <a:r>
              <a:rPr lang="en-AU" sz="2000" dirty="0">
                <a:latin typeface="Neue Haas Grotesk Text Pro"/>
              </a:rPr>
              <a:t>-</a:t>
            </a:r>
          </a:p>
          <a:p>
            <a:pPr marL="0" indent="0">
              <a:buNone/>
            </a:pPr>
            <a:r>
              <a:rPr lang="en-AU" sz="2000" dirty="0">
                <a:latin typeface="Neue Haas Grotesk Text Pro"/>
              </a:rPr>
              <a:t>Public safety in crowded areas is compromised due to the absence of real-time reporting and alert systems. Delayed communication between citizens and authorities leads to slow emergency response, increased panic, and higher risk to human life.</a:t>
            </a:r>
            <a:endParaRPr lang="en-US" sz="2000" dirty="0">
              <a:latin typeface="Neue Haas Grotesk Text Pro"/>
            </a:endParaRPr>
          </a:p>
          <a:p>
            <a:r>
              <a:rPr lang="en-US" sz="2000" b="1" dirty="0">
                <a:latin typeface="Bahnschrift SemiLight"/>
              </a:rPr>
              <a:t>THEME </a:t>
            </a:r>
            <a:r>
              <a:rPr lang="en-US" sz="2000" dirty="0">
                <a:latin typeface="Neue Haas Grotesk Text Pro"/>
              </a:rPr>
              <a:t>–</a:t>
            </a:r>
            <a:r>
              <a:rPr lang="en-US" sz="2000" dirty="0">
                <a:latin typeface="Neue Haas Grotesk Text Pro"/>
                <a:ea typeface="Calibri"/>
                <a:cs typeface="Calibri"/>
              </a:rPr>
              <a:t>Public Safety &amp; Smart Cities</a:t>
            </a:r>
          </a:p>
          <a:p>
            <a:r>
              <a:rPr lang="en-US" sz="2000" b="1" dirty="0">
                <a:latin typeface="Bahnschrift SemiLight"/>
              </a:rPr>
              <a:t>PS CATEGORY</a:t>
            </a:r>
            <a:r>
              <a:rPr lang="en-US" sz="2000" dirty="0">
                <a:latin typeface="Bahnschrift SemiLight"/>
              </a:rPr>
              <a:t>-</a:t>
            </a:r>
            <a:r>
              <a:rPr lang="en-US" sz="2000" dirty="0">
                <a:latin typeface="Neue Haas Grotesk Text Pro"/>
              </a:rPr>
              <a:t>Software</a:t>
            </a:r>
          </a:p>
          <a:p>
            <a:r>
              <a:rPr lang="en-US" sz="2000" b="1" dirty="0">
                <a:latin typeface="Bahnschrift SemiLight"/>
              </a:rPr>
              <a:t>TEAM ID</a:t>
            </a:r>
            <a:r>
              <a:rPr lang="en-US" sz="2000" dirty="0">
                <a:latin typeface="Bahnschrift SemiLight"/>
              </a:rPr>
              <a:t>-</a:t>
            </a:r>
          </a:p>
          <a:p>
            <a:r>
              <a:rPr lang="en-US" sz="2000" b="1" dirty="0">
                <a:latin typeface="Bahnschrift SemiLight"/>
              </a:rPr>
              <a:t>TEAM NAME</a:t>
            </a:r>
            <a:r>
              <a:rPr lang="en-US" sz="2000" dirty="0">
                <a:latin typeface="Bahnschrift SemiLight"/>
              </a:rPr>
              <a:t>-</a:t>
            </a:r>
            <a:r>
              <a:rPr lang="en-US" sz="2000" dirty="0">
                <a:latin typeface="Neue Haas Grotesk Text Pro"/>
              </a:rPr>
              <a:t>CTRL F</a:t>
            </a:r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66035F71-83B3-B87E-EDB0-3BE0E6F48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1391" y="5697002"/>
            <a:ext cx="2104054" cy="273844"/>
          </a:xfrm>
        </p:spPr>
        <p:txBody>
          <a:bodyPr/>
          <a:lstStyle/>
          <a:p>
            <a:pPr>
              <a:spcAft>
                <a:spcPts val="450"/>
              </a:spcAft>
            </a:pPr>
            <a:r>
              <a:rPr lang="en-US"/>
              <a:t>
              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FB382CB4-146F-1B07-C543-97A05031A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8123" y="5697002"/>
            <a:ext cx="321905" cy="273844"/>
          </a:xfrm>
        </p:spPr>
        <p:txBody>
          <a:bodyPr/>
          <a:lstStyle/>
          <a:p>
            <a:pPr>
              <a:spcAft>
                <a:spcPts val="450"/>
              </a:spcAft>
            </a:pPr>
            <a:fld id="{CC057153-B650-4DEB-B370-79DDCFDCE934}" type="slidenum">
              <a:rPr lang="en-US" dirty="0"/>
              <a:pPr>
                <a:spcAft>
                  <a:spcPts val="450"/>
                </a:spcAft>
              </a:pPr>
              <a:t>1</a:t>
            </a:fld>
            <a:endParaRPr lang="en-US"/>
          </a:p>
        </p:txBody>
      </p:sp>
      <p:pic>
        <p:nvPicPr>
          <p:cNvPr id="6" name="Picture 5" descr="A large group of people&#10;&#10;AI-generated content may be incorrect.">
            <a:extLst>
              <a:ext uri="{FF2B5EF4-FFF2-40B4-BE49-F238E27FC236}">
                <a16:creationId xmlns:a16="http://schemas.microsoft.com/office/drawing/2014/main" id="{6606ED56-AB8F-081C-22E0-35ED424E9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56144" y="1745137"/>
            <a:ext cx="3785560" cy="3411749"/>
          </a:xfrm>
          <a:prstGeom prst="rect">
            <a:avLst/>
          </a:prstGeom>
        </p:spPr>
      </p:pic>
      <p:sp>
        <p:nvSpPr>
          <p:cNvPr id="10" name="Half Frame 9">
            <a:extLst>
              <a:ext uri="{FF2B5EF4-FFF2-40B4-BE49-F238E27FC236}">
                <a16:creationId xmlns:a16="http://schemas.microsoft.com/office/drawing/2014/main" id="{56B45CD1-8EA2-03B6-B0C6-A116E6C7E163}"/>
              </a:ext>
            </a:extLst>
          </p:cNvPr>
          <p:cNvSpPr/>
          <p:nvPr/>
        </p:nvSpPr>
        <p:spPr>
          <a:xfrm>
            <a:off x="7453312" y="1714500"/>
            <a:ext cx="390522" cy="640555"/>
          </a:xfrm>
          <a:prstGeom prst="halfFram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93731549-E3E5-E4C5-C6E2-BB8BB01AC522}"/>
              </a:ext>
            </a:extLst>
          </p:cNvPr>
          <p:cNvSpPr/>
          <p:nvPr/>
        </p:nvSpPr>
        <p:spPr>
          <a:xfrm rot="10620000">
            <a:off x="10834687" y="4476749"/>
            <a:ext cx="390522" cy="640555"/>
          </a:xfrm>
          <a:prstGeom prst="halfFram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C7968-D9F5-A152-2C66-1A087ACAF7F8}"/>
              </a:ext>
            </a:extLst>
          </p:cNvPr>
          <p:cNvSpPr txBox="1"/>
          <p:nvPr/>
        </p:nvSpPr>
        <p:spPr>
          <a:xfrm>
            <a:off x="5184576" y="25146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AE9D9F0-5E95-15BD-8A76-FA2D9F814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1" y="386603"/>
            <a:ext cx="5762020" cy="36146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AU"/>
          </a:p>
          <a:p>
            <a:pPr marL="0" indent="0">
              <a:buNone/>
            </a:pPr>
            <a:r>
              <a:rPr lang="en-AU" b="1"/>
              <a:t>PROPOSED SOLUTIONS</a:t>
            </a:r>
            <a:r>
              <a:rPr lang="en-AU"/>
              <a:t>
•Enables citizens to report real-time public safety hazards.
•Supports reporting of accidents, fire, unsafe zones, and suspicious activity.
•Prioritizes alerts based on severity.
•Sends instant notifications to nearby users.
•Identifies high-risk areas using collected data.</a:t>
            </a:r>
            <a:endParaRPr lang="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1A703-4485-2CAB-F8D4-DE33026C8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87D97-D28E-B53E-1986-E98D7298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4BFAEB-B715-84CB-04EC-34B78C3D0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9181" y="2370044"/>
            <a:ext cx="5934231" cy="38069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b="1"/>
              <a:t>WHY IT MATTERS
•</a:t>
            </a:r>
            <a:r>
              <a:rPr lang="en-AU"/>
              <a:t>Prevents accidents through early hazard warnings.
•Improves public safety in crowded areas.
•Reduces response time during emergencies.
•Encourages community participation in safety.
•Supports smart and safer cities</a:t>
            </a:r>
            <a:endParaRPr lang="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5EA261-692F-C756-BC32-FB49DFD57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181" y="194375"/>
            <a:ext cx="3647516" cy="205413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0933200-8291-1B57-8283-9EFF814AD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414" y="3832412"/>
            <a:ext cx="2622177" cy="171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EE15F-3032-1729-8353-37333727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513D2-51D7-E3D9-E694-E2532EF4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A69A1-084D-0391-4635-9815B75A057F}"/>
              </a:ext>
            </a:extLst>
          </p:cNvPr>
          <p:cNvSpPr txBox="1"/>
          <p:nvPr/>
        </p:nvSpPr>
        <p:spPr>
          <a:xfrm>
            <a:off x="5184576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445B02-D04D-FA8D-92E4-8D0D24471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245" y="0"/>
            <a:ext cx="12326245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60625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56AC4-2D13-E6F1-F1C0-BFD58D71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EF5CA-E9C2-97C2-F40D-D2080B1E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AE42D-4BD2-005F-57DB-0F3DA2EC5309}"/>
              </a:ext>
            </a:extLst>
          </p:cNvPr>
          <p:cNvSpPr txBox="1"/>
          <p:nvPr/>
        </p:nvSpPr>
        <p:spPr>
          <a:xfrm>
            <a:off x="302559" y="1025338"/>
            <a:ext cx="57934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b="1">
                <a:solidFill>
                  <a:schemeClr val="accent1">
                    <a:lumMod val="50000"/>
                  </a:schemeClr>
                </a:solidFill>
              </a:rPr>
              <a:t>FEASIBILITY SURVEY</a:t>
            </a:r>
            <a:r>
              <a:rPr lang="en-AU">
                <a:solidFill>
                  <a:schemeClr val="accent1">
                    <a:lumMod val="50000"/>
                  </a:schemeClr>
                </a:solidFill>
              </a:rPr>
              <a:t>
</a:t>
            </a:r>
            <a:r>
              <a:rPr lang="en-AU"/>
              <a:t>•Can be implemented as a software-based solution.
•Requires only basic internet and smartphones.
•Suitable for public places, events, and urban areas.
•Easy to use with minimal user training.
•Scalable for different locations and user groups.</a:t>
            </a:r>
            <a:endParaRPr lang="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DE2C3-315D-BAF0-6484-F1D6262F3A36}"/>
              </a:ext>
            </a:extLst>
          </p:cNvPr>
          <p:cNvSpPr txBox="1"/>
          <p:nvPr/>
        </p:nvSpPr>
        <p:spPr>
          <a:xfrm>
            <a:off x="5178798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5968E-C182-8AF4-BFE3-48A45CFC2FA6}"/>
              </a:ext>
            </a:extLst>
          </p:cNvPr>
          <p:cNvSpPr txBox="1"/>
          <p:nvPr/>
        </p:nvSpPr>
        <p:spPr>
          <a:xfrm>
            <a:off x="6339229" y="2589074"/>
            <a:ext cx="50745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b="1">
                <a:solidFill>
                  <a:schemeClr val="accent1">
                    <a:lumMod val="50000"/>
                  </a:schemeClr>
                </a:solidFill>
              </a:rPr>
              <a:t>CHALLENGES AND RISK</a:t>
            </a:r>
            <a:r>
              <a:rPr lang="en-AU"/>
              <a:t>
•Possibility of false or misleading reports.
•Dependence on internet connectivity.
•Alert fatigue due to frequent notifications.
•Accuracy of user-provided location data.
•Privacy and data security concerns.</a:t>
            </a:r>
            <a:endParaRPr lang="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307E9-A8D8-43DC-071D-458F02FD0D5F}"/>
              </a:ext>
            </a:extLst>
          </p:cNvPr>
          <p:cNvSpPr txBox="1"/>
          <p:nvPr/>
        </p:nvSpPr>
        <p:spPr>
          <a:xfrm>
            <a:off x="302559" y="4078336"/>
            <a:ext cx="7007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b="1">
                <a:solidFill>
                  <a:schemeClr val="accent1">
                    <a:lumMod val="50000"/>
                  </a:schemeClr>
                </a:solidFill>
              </a:rPr>
              <a:t>VIABILITIES</a:t>
            </a:r>
            <a:r>
              <a:rPr lang="en-AU"/>
              <a:t>
•Low-cost implementation with no hardware dependency.
•Can integrate with authorities and emergency services.
•Supports large-scale public safety applications.
•Enhances community-driven safety awareness.
•Aligns with smart city and digital governance goals.</a:t>
            </a:r>
            <a:endParaRPr lang="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D52D8D-965D-CFFB-B43C-2E12388D9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442" y="39873"/>
            <a:ext cx="2537323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C942F-D6CA-9972-F66F-3445A7E5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5B6AC-8CC0-42FC-3BCA-C13938ED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C45FF-9410-5608-2D76-C60D58B9083F}"/>
              </a:ext>
            </a:extLst>
          </p:cNvPr>
          <p:cNvSpPr txBox="1"/>
          <p:nvPr/>
        </p:nvSpPr>
        <p:spPr>
          <a:xfrm>
            <a:off x="6096000" y="480733"/>
            <a:ext cx="66714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b="1">
                <a:solidFill>
                  <a:srgbClr val="002060"/>
                </a:solidFill>
              </a:rPr>
              <a:t>IMPACTS
</a:t>
            </a:r>
            <a:r>
              <a:rPr lang="en-AU"/>
              <a:t>•Improves public safety through real-time alerts.
•Reduces accidents and emergency response time.
•Increases awareness in crowded and public areas.
•Helps identify high-risk zones using collected data.
•Supports development of safer smart cities.</a:t>
            </a:r>
            <a:endParaRPr lang="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4DDE8-106E-E29B-ABD1-BD9ED906BEBF}"/>
              </a:ext>
            </a:extLst>
          </p:cNvPr>
          <p:cNvSpPr txBox="1"/>
          <p:nvPr/>
        </p:nvSpPr>
        <p:spPr>
          <a:xfrm>
            <a:off x="6128291" y="3170144"/>
            <a:ext cx="55536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b="1">
                <a:solidFill>
                  <a:srgbClr val="002060"/>
                </a:solidFill>
              </a:rPr>
              <a:t>BENEFITS</a:t>
            </a:r>
            <a:r>
              <a:rPr lang="en-AU"/>
              <a:t>
•Saves lives by providing early hazard warnings.
•Easy to use and accessible to common users.
•Low-cost, software-only solution.
•Encourages community participation in safety.
•Scalable for cities, campuses, and public spaces.</a:t>
            </a:r>
            <a:endParaRPr lang="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CF37B-6352-7BD6-B811-2C79D03322D1}"/>
              </a:ext>
            </a:extLst>
          </p:cNvPr>
          <p:cNvSpPr txBox="1"/>
          <p:nvPr/>
        </p:nvSpPr>
        <p:spPr>
          <a:xfrm rot="10800000" flipV="1">
            <a:off x="1071562" y="480733"/>
            <a:ext cx="4697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b="1">
                <a:solidFill>
                  <a:schemeClr val="accent5">
                    <a:lumMod val="50000"/>
                  </a:schemeClr>
                </a:solidFill>
              </a:rPr>
              <a:t>Proposed System Work 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AC126D-13A6-9FAE-4E30-9DAF844C6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20" y="958601"/>
            <a:ext cx="3612445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9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DC9DC-0CCF-5765-BA9A-788254ED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B4771-A67A-418C-D2B3-3C3EC594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3BEA3-E6B0-6DBD-64ED-DE2E12DAD918}"/>
              </a:ext>
            </a:extLst>
          </p:cNvPr>
          <p:cNvSpPr txBox="1"/>
          <p:nvPr/>
        </p:nvSpPr>
        <p:spPr>
          <a:xfrm>
            <a:off x="4369479" y="587475"/>
            <a:ext cx="532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 b="1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C463FC4-8189-B8B5-D0A3-B746F87E6751}"/>
              </a:ext>
            </a:extLst>
          </p:cNvPr>
          <p:cNvSpPr/>
          <p:nvPr/>
        </p:nvSpPr>
        <p:spPr>
          <a:xfrm>
            <a:off x="1034524" y="1969733"/>
            <a:ext cx="3029784" cy="294072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42C3AB-B4A0-C2A4-F7E4-6831A03B4D3A}"/>
              </a:ext>
            </a:extLst>
          </p:cNvPr>
          <p:cNvSpPr/>
          <p:nvPr/>
        </p:nvSpPr>
        <p:spPr>
          <a:xfrm>
            <a:off x="4064308" y="2677172"/>
            <a:ext cx="2788127" cy="280201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870C0E-C420-1863-BB83-C8D5042ABE3F}"/>
              </a:ext>
            </a:extLst>
          </p:cNvPr>
          <p:cNvSpPr/>
          <p:nvPr/>
        </p:nvSpPr>
        <p:spPr>
          <a:xfrm>
            <a:off x="6852450" y="1373265"/>
            <a:ext cx="2843631" cy="28020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51823-D3BC-AC93-E512-DBF875CF8171}"/>
              </a:ext>
            </a:extLst>
          </p:cNvPr>
          <p:cNvSpPr txBox="1"/>
          <p:nvPr/>
        </p:nvSpPr>
        <p:spPr>
          <a:xfrm>
            <a:off x="5182062" y="251182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E131E-F669-2ACD-76A3-DB0E5631CAB3}"/>
              </a:ext>
            </a:extLst>
          </p:cNvPr>
          <p:cNvSpPr txBox="1"/>
          <p:nvPr/>
        </p:nvSpPr>
        <p:spPr>
          <a:xfrm>
            <a:off x="1698695" y="2964560"/>
            <a:ext cx="1984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/>
              <a:t>Smart Cities Mission, Govt. Of India</a:t>
            </a:r>
            <a:endParaRPr lang="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B9E9E-1F89-3C6C-27C3-D592EFA92990}"/>
              </a:ext>
            </a:extLst>
          </p:cNvPr>
          <p:cNvSpPr txBox="1"/>
          <p:nvPr/>
        </p:nvSpPr>
        <p:spPr>
          <a:xfrm rot="10800000" flipV="1">
            <a:off x="4500967" y="3604449"/>
            <a:ext cx="2156463" cy="94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/>
              <a:t>WHO – Public Safety &amp; Urban Risk Reports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E5434-D3DC-CC44-F4C1-320D2C731796}"/>
              </a:ext>
            </a:extLst>
          </p:cNvPr>
          <p:cNvSpPr txBox="1"/>
          <p:nvPr/>
        </p:nvSpPr>
        <p:spPr>
          <a:xfrm flipH="1">
            <a:off x="7439071" y="2225896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AU"/>
              <a:t>Publicly available research and datasets</a:t>
            </a:r>
            <a:endParaRPr lang="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062F9C-5B6F-49F5-69CE-40D334E11D8C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2549416" y="4910461"/>
            <a:ext cx="0" cy="1725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552194-D16F-020B-2B03-E985EAC59693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5458371" y="5479186"/>
            <a:ext cx="1" cy="15395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10FF18-05F6-5F71-07A1-6E301F5372A1}"/>
              </a:ext>
            </a:extLst>
          </p:cNvPr>
          <p:cNvCxnSpPr>
            <a:cxnSpLocks/>
            <a:endCxn id="10" idx="4"/>
          </p:cNvCxnSpPr>
          <p:nvPr/>
        </p:nvCxnSpPr>
        <p:spPr>
          <a:xfrm flipH="1" flipV="1">
            <a:off x="8274266" y="4175279"/>
            <a:ext cx="44474" cy="3075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05685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VanillaVTI</vt:lpstr>
      <vt:lpstr>ZAYATHON-2026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ZAYATHON-2026</dc:title>
  <dc:creator/>
  <cp:lastModifiedBy>ARCHANA S</cp:lastModifiedBy>
  <cp:revision>3</cp:revision>
  <dcterms:created xsi:type="dcterms:W3CDTF">2026-02-08T04:42:23Z</dcterms:created>
  <dcterms:modified xsi:type="dcterms:W3CDTF">2026-02-09T13:07:00Z</dcterms:modified>
</cp:coreProperties>
</file>